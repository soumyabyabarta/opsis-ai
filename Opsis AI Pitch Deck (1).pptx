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88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14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openxmlformats.org/officeDocument/2006/relationships/image" Target="../media/image14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32" Type="http://schemas.openxmlformats.org/officeDocument/2006/relationships/image" Target="../media/image99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Relationship Id="rId8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4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0"/>
            <a:ext cx="7934325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1438275"/>
            <a:ext cx="933450" cy="9810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" y="1704975"/>
            <a:ext cx="400050" cy="4095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2731889"/>
            <a:ext cx="655320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Opsis AI</a:t>
            </a:r>
            <a:endParaRPr lang="en-US" sz="6800" dirty="0"/>
          </a:p>
        </p:txBody>
      </p:sp>
      <p:sp>
        <p:nvSpPr>
          <p:cNvPr id="9" name="Text 1"/>
          <p:cNvSpPr/>
          <p:nvPr/>
        </p:nvSpPr>
        <p:spPr>
          <a:xfrm>
            <a:off x="762000" y="3832920"/>
            <a:ext cx="655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Healthcare Assistant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62000" y="4556820"/>
            <a:ext cx="5715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Bridging the gap between complex medical data and everyday understanding</a:t>
            </a:r>
            <a:endParaRPr lang="en-US" sz="17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4725" y="4257675"/>
            <a:ext cx="4400550" cy="222885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225" y="4829175"/>
            <a:ext cx="400050" cy="40005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4350" y="4829175"/>
            <a:ext cx="400050" cy="40005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475" y="4829175"/>
            <a:ext cx="400050" cy="400050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6225" y="5400675"/>
            <a:ext cx="3257550" cy="13335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96225" y="5400675"/>
            <a:ext cx="2771775" cy="133350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53700" y="561975"/>
            <a:ext cx="1076325" cy="457200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10791825" y="685800"/>
            <a:ext cx="600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Opsis AI</a:t>
            </a:r>
            <a:endParaRPr lang="en-US" sz="1100" dirty="0"/>
          </a:p>
        </p:txBody>
      </p:sp>
      <p:sp>
        <p:nvSpPr>
          <p:cNvPr id="19" name="Text 4"/>
          <p:cNvSpPr/>
          <p:nvPr/>
        </p:nvSpPr>
        <p:spPr>
          <a:xfrm>
            <a:off x="8858250" y="4891088"/>
            <a:ext cx="20097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Health Intelligence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7905750" y="561975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Accuracy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10753725" y="561975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99.2%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362200"/>
            <a:ext cx="1552575" cy="15525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561975"/>
            <a:ext cx="1247775" cy="304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52500" y="628650"/>
            <a:ext cx="8463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62000" y="971550"/>
            <a:ext cx="254406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7" name="Text 2"/>
          <p:cNvSpPr/>
          <p:nvPr/>
        </p:nvSpPr>
        <p:spPr>
          <a:xfrm>
            <a:off x="11026676" y="571500"/>
            <a:ext cx="403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5200" y="2091630"/>
            <a:ext cx="2095500" cy="2095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45332" y="2910780"/>
            <a:ext cx="935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3400" dirty="0"/>
          </a:p>
        </p:txBody>
      </p:sp>
      <p:sp>
        <p:nvSpPr>
          <p:cNvPr id="10" name="Text 4"/>
          <p:cNvSpPr/>
          <p:nvPr/>
        </p:nvSpPr>
        <p:spPr>
          <a:xfrm>
            <a:off x="1347936" y="4472880"/>
            <a:ext cx="2129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Medical Jargon Barrier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857250" y="4872930"/>
            <a:ext cx="311140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r>
              <a:rPr lang="en-US" sz="12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of patients struggle to understand their lab test results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01" y="2091630"/>
            <a:ext cx="2095500" cy="2095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628233" y="2910780"/>
            <a:ext cx="935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3400" dirty="0"/>
          </a:p>
        </p:txBody>
      </p:sp>
      <p:sp>
        <p:nvSpPr>
          <p:cNvPr id="14" name="Text 7"/>
          <p:cNvSpPr/>
          <p:nvPr/>
        </p:nvSpPr>
        <p:spPr>
          <a:xfrm>
            <a:off x="4962674" y="4472880"/>
            <a:ext cx="22663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Symptom Search Anxiety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4540151" y="4872930"/>
            <a:ext cx="3111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r>
              <a:rPr lang="en-US" sz="12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of online symptom searches lead to unnecessary panic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0225" y="2819400"/>
            <a:ext cx="714375" cy="6381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750647" y="4472880"/>
            <a:ext cx="20563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Healthcare Access Gap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223200" y="4872930"/>
            <a:ext cx="311140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Urgent need for accessible health literacy tools to bridge information divides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885950"/>
            <a:ext cx="3448050" cy="34766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1847850"/>
            <a:ext cx="1447800" cy="1552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1885950"/>
            <a:ext cx="3448050" cy="3476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1847850"/>
            <a:ext cx="1447800" cy="1552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75" y="1885950"/>
            <a:ext cx="3448050" cy="3476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1847850"/>
            <a:ext cx="1447800" cy="1552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9725" y="2085975"/>
            <a:ext cx="971550" cy="9810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724525"/>
            <a:ext cx="1068705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561975"/>
            <a:ext cx="1485900" cy="3048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952500" y="628650"/>
            <a:ext cx="107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13" name="Text 1"/>
          <p:cNvSpPr/>
          <p:nvPr/>
        </p:nvSpPr>
        <p:spPr>
          <a:xfrm>
            <a:off x="762000" y="971550"/>
            <a:ext cx="254525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14" name="Text 2"/>
          <p:cNvSpPr/>
          <p:nvPr/>
        </p:nvSpPr>
        <p:spPr>
          <a:xfrm>
            <a:off x="11026676" y="571500"/>
            <a:ext cx="403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6950" y="2390775"/>
            <a:ext cx="419100" cy="371475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1587550" y="3196530"/>
            <a:ext cx="17779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Symptom Checker</a:t>
            </a:r>
            <a:endParaRPr lang="en-US" sz="1400" dirty="0"/>
          </a:p>
        </p:txBody>
      </p:sp>
      <p:sp>
        <p:nvSpPr>
          <p:cNvPr id="17" name="Text 4"/>
          <p:cNvSpPr/>
          <p:nvPr/>
        </p:nvSpPr>
        <p:spPr>
          <a:xfrm>
            <a:off x="962025" y="3491805"/>
            <a:ext cx="30289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triage categorizes urgency (Emergency / Urgent / Moderate / Low) and provides self-care guidance</a:t>
            </a:r>
            <a:endParaRPr lang="en-US" sz="10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3575" y="4267200"/>
            <a:ext cx="238125" cy="21907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027486" y="4306193"/>
            <a:ext cx="53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highlight>
                  <a:srgbClr val="EF4444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700" dirty="0"/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0275" y="4267200"/>
            <a:ext cx="257175" cy="219075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2290465" y="4306193"/>
            <a:ext cx="72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highlight>
                  <a:srgbClr val="F97316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endParaRPr lang="en-US" sz="70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86025" y="4267200"/>
            <a:ext cx="266700" cy="219075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2572048" y="4306193"/>
            <a:ext cx="8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highlight>
                  <a:srgbClr val="EAB308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7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1300" y="4267200"/>
            <a:ext cx="238125" cy="21907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2871490" y="4306193"/>
            <a:ext cx="53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highlight>
                  <a:srgbClr val="22C55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70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4075" y="2390775"/>
            <a:ext cx="323850" cy="37147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5069681" y="3196530"/>
            <a:ext cx="20526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Medical Report Analyzer</a:t>
            </a:r>
            <a:endParaRPr lang="en-US" sz="1400" dirty="0"/>
          </a:p>
        </p:txBody>
      </p:sp>
      <p:sp>
        <p:nvSpPr>
          <p:cNvPr id="28" name="Text 10"/>
          <p:cNvSpPr/>
          <p:nvPr/>
        </p:nvSpPr>
        <p:spPr>
          <a:xfrm>
            <a:off x="4581525" y="3491805"/>
            <a:ext cx="30289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 lab reports, get flagged biomarkers with simple explanations and actionable insights</a:t>
            </a:r>
            <a:endParaRPr lang="en-US" sz="1000" dirty="0"/>
          </a:p>
        </p:txBody>
      </p:sp>
      <p:sp>
        <p:nvSpPr>
          <p:cNvPr id="29" name="Text 11"/>
          <p:cNvSpPr/>
          <p:nvPr/>
        </p:nvSpPr>
        <p:spPr>
          <a:xfrm>
            <a:off x="8498384" y="3196530"/>
            <a:ext cx="24340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 Health Dashboard</a:t>
            </a:r>
            <a:endParaRPr lang="en-US" sz="1400" dirty="0"/>
          </a:p>
        </p:txBody>
      </p:sp>
      <p:sp>
        <p:nvSpPr>
          <p:cNvPr id="30" name="Text 12"/>
          <p:cNvSpPr/>
          <p:nvPr/>
        </p:nvSpPr>
        <p:spPr>
          <a:xfrm>
            <a:off x="8201025" y="3491805"/>
            <a:ext cx="3028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Personalized Health Score (0–100) with visual progress rings to track your wellness journey</a:t>
            </a:r>
            <a:endParaRPr lang="en-US" sz="1000" dirty="0"/>
          </a:p>
        </p:txBody>
      </p:sp>
      <p:sp>
        <p:nvSpPr>
          <p:cNvPr id="31" name="Text 13"/>
          <p:cNvSpPr/>
          <p:nvPr/>
        </p:nvSpPr>
        <p:spPr>
          <a:xfrm>
            <a:off x="1143000" y="5876925"/>
            <a:ext cx="990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Making healthcare accessible and understandable for everyone — </a:t>
            </a:r>
            <a:r>
              <a:rPr lang="en-US" sz="14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empowering users to take control of their health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" y="0"/>
            <a:ext cx="7153275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225" y="0"/>
            <a:ext cx="5057775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725" y="1781175"/>
            <a:ext cx="3924300" cy="790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192405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725" y="2876550"/>
            <a:ext cx="3924300" cy="790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3019425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5725" y="3971925"/>
            <a:ext cx="39243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600" y="4114800"/>
            <a:ext cx="476250" cy="485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725" y="5076825"/>
            <a:ext cx="3924300" cy="790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5219700"/>
            <a:ext cx="476250" cy="485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466725"/>
            <a:ext cx="2200275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00100" y="552450"/>
            <a:ext cx="1716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15" name="Text 1"/>
          <p:cNvSpPr/>
          <p:nvPr/>
        </p:nvSpPr>
        <p:spPr>
          <a:xfrm>
            <a:off x="571500" y="1028700"/>
            <a:ext cx="59912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Opportunity</a:t>
            </a:r>
            <a:endParaRPr lang="en-US" sz="3400" dirty="0"/>
          </a:p>
        </p:txBody>
      </p:sp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0725" y="2628900"/>
            <a:ext cx="5991225" cy="4229100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784063" y="2400300"/>
            <a:ext cx="5229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$500B+</a:t>
            </a:r>
            <a:endParaRPr lang="en-US" sz="2900" dirty="0"/>
          </a:p>
        </p:txBody>
      </p:sp>
      <p:sp>
        <p:nvSpPr>
          <p:cNvPr id="18" name="Text 3"/>
          <p:cNvSpPr/>
          <p:nvPr/>
        </p:nvSpPr>
        <p:spPr>
          <a:xfrm>
            <a:off x="372447" y="2943225"/>
            <a:ext cx="5229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Digital Health Market (TAM)</a:t>
            </a:r>
            <a:endParaRPr lang="en-US" sz="1100" dirty="0"/>
          </a:p>
        </p:txBody>
      </p:sp>
      <p:sp>
        <p:nvSpPr>
          <p:cNvPr id="19" name="Text 4"/>
          <p:cNvSpPr/>
          <p:nvPr/>
        </p:nvSpPr>
        <p:spPr>
          <a:xfrm>
            <a:off x="753341" y="3283744"/>
            <a:ext cx="5229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$50B</a:t>
            </a:r>
            <a:endParaRPr lang="en-US" sz="2900" dirty="0"/>
          </a:p>
        </p:txBody>
      </p:sp>
      <p:sp>
        <p:nvSpPr>
          <p:cNvPr id="20" name="Text 5"/>
          <p:cNvSpPr/>
          <p:nvPr/>
        </p:nvSpPr>
        <p:spPr>
          <a:xfrm>
            <a:off x="260479" y="3905250"/>
            <a:ext cx="5229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India Healthcare Tech Market (SAM)</a:t>
            </a:r>
            <a:endParaRPr lang="en-US" sz="1100" dirty="0"/>
          </a:p>
        </p:txBody>
      </p:sp>
      <p:sp>
        <p:nvSpPr>
          <p:cNvPr id="21" name="Text 6"/>
          <p:cNvSpPr/>
          <p:nvPr/>
        </p:nvSpPr>
        <p:spPr>
          <a:xfrm>
            <a:off x="7715250" y="476250"/>
            <a:ext cx="3905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sp>
        <p:nvSpPr>
          <p:cNvPr id="22" name="Text 7"/>
          <p:cNvSpPr/>
          <p:nvPr/>
        </p:nvSpPr>
        <p:spPr>
          <a:xfrm>
            <a:off x="8058150" y="1190625"/>
            <a:ext cx="17314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Drivers</a:t>
            </a:r>
            <a:endParaRPr lang="en-US" sz="17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05725" y="1219200"/>
            <a:ext cx="247650" cy="257175"/>
          </a:xfrm>
          <a:prstGeom prst="rect">
            <a:avLst/>
          </a:prstGeom>
        </p:spPr>
      </p:pic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1950" y="2057400"/>
            <a:ext cx="209550" cy="20955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505825" y="1933575"/>
            <a:ext cx="2971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Rising health awareness post-pandemic</a:t>
            </a:r>
            <a:endParaRPr lang="en-US" sz="120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1950" y="3152775"/>
            <a:ext cx="209550" cy="21907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8505825" y="3032522"/>
            <a:ext cx="2971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Increasing adoption of AI in healthcare</a:t>
            </a:r>
            <a:endParaRPr lang="en-US" sz="1200" dirty="0"/>
          </a:p>
        </p:txBody>
      </p:sp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3375" y="4248150"/>
            <a:ext cx="266700" cy="219075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8505825" y="4131469"/>
            <a:ext cx="2971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Growing demand for patient-centric solutions</a:t>
            </a:r>
            <a:endParaRPr lang="en-US" sz="1200" dirty="0"/>
          </a:p>
        </p:txBody>
      </p:sp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1950" y="5353050"/>
            <a:ext cx="209550" cy="219075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8505825" y="5230416"/>
            <a:ext cx="2971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Government push for digital health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495425"/>
            <a:ext cx="5162550" cy="10953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81250"/>
            <a:ext cx="5162550" cy="10953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267075"/>
            <a:ext cx="5162550" cy="10953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4152900"/>
            <a:ext cx="5162550" cy="10953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1638300"/>
            <a:ext cx="5838825" cy="2009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200" y="3905250"/>
            <a:ext cx="5838825" cy="2000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371475"/>
            <a:ext cx="1514475" cy="3429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00100" y="457200"/>
            <a:ext cx="1037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1" name="Text 1"/>
          <p:cNvSpPr/>
          <p:nvPr/>
        </p:nvSpPr>
        <p:spPr>
          <a:xfrm>
            <a:off x="571500" y="819150"/>
            <a:ext cx="632028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&amp; Competitive Edge</a:t>
            </a:r>
            <a:endParaRPr lang="en-US" sz="3400" dirty="0"/>
          </a:p>
        </p:txBody>
      </p:sp>
      <p:sp>
        <p:nvSpPr>
          <p:cNvPr id="12" name="Text 2"/>
          <p:cNvSpPr/>
          <p:nvPr/>
        </p:nvSpPr>
        <p:spPr>
          <a:xfrm>
            <a:off x="11217176" y="476250"/>
            <a:ext cx="403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sp>
        <p:nvSpPr>
          <p:cNvPr id="13" name="Text 3"/>
          <p:cNvSpPr/>
          <p:nvPr/>
        </p:nvSpPr>
        <p:spPr>
          <a:xfrm>
            <a:off x="800100" y="1796355"/>
            <a:ext cx="4429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80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2019300"/>
            <a:ext cx="695325" cy="24765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895350" y="2053530"/>
            <a:ext cx="4792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React.js</a:t>
            </a:r>
            <a:endParaRPr lang="en-US" sz="9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3525" y="2019300"/>
            <a:ext cx="457200" cy="24765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641277" y="2053530"/>
            <a:ext cx="2378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9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8350" y="2019300"/>
            <a:ext cx="990600" cy="24765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2145804" y="2053530"/>
            <a:ext cx="7761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9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6575" y="2019300"/>
            <a:ext cx="1152525" cy="24765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3188643" y="205353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Framer Motion</a:t>
            </a:r>
            <a:endParaRPr lang="en-US" sz="900" dirty="0"/>
          </a:p>
        </p:txBody>
      </p:sp>
      <p:sp>
        <p:nvSpPr>
          <p:cNvPr id="22" name="Text 8"/>
          <p:cNvSpPr/>
          <p:nvPr/>
        </p:nvSpPr>
        <p:spPr>
          <a:xfrm>
            <a:off x="800100" y="2682180"/>
            <a:ext cx="4429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8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2905125"/>
            <a:ext cx="685800" cy="24765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95350" y="2939355"/>
            <a:ext cx="4732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</a:t>
            </a:r>
            <a:endParaRPr lang="en-US" sz="9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2905125"/>
            <a:ext cx="838200" cy="24765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635323" y="2939355"/>
            <a:ext cx="6161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27" name="Text 11"/>
          <p:cNvSpPr/>
          <p:nvPr/>
        </p:nvSpPr>
        <p:spPr>
          <a:xfrm>
            <a:off x="800100" y="3568005"/>
            <a:ext cx="4429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&amp; AI</a:t>
            </a:r>
            <a:endParaRPr lang="en-US" sz="80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3790950"/>
            <a:ext cx="847725" cy="24765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895350" y="3825180"/>
            <a:ext cx="6308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9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5925" y="3790950"/>
            <a:ext cx="1790700" cy="24765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1792932" y="3825180"/>
            <a:ext cx="15774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Generative AI integration</a:t>
            </a:r>
            <a:endParaRPr lang="en-US" sz="900" dirty="0"/>
          </a:p>
        </p:txBody>
      </p:sp>
      <p:sp>
        <p:nvSpPr>
          <p:cNvPr id="32" name="Text 14"/>
          <p:cNvSpPr/>
          <p:nvPr/>
        </p:nvSpPr>
        <p:spPr>
          <a:xfrm>
            <a:off x="800100" y="4453830"/>
            <a:ext cx="4429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80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0575" y="4676775"/>
            <a:ext cx="1285875" cy="247650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895350" y="4711005"/>
            <a:ext cx="10712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Netlify (frontend)</a:t>
            </a:r>
            <a:endParaRPr lang="en-US" sz="90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4075" y="4676775"/>
            <a:ext cx="1314450" cy="247650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2233315" y="4711005"/>
            <a:ext cx="10992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highlight>
                  <a:srgbClr val="95D3B2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 (backend)</a:t>
            </a:r>
            <a:endParaRPr lang="en-US" sz="900" dirty="0"/>
          </a:p>
        </p:txBody>
      </p:sp>
      <p:sp>
        <p:nvSpPr>
          <p:cNvPr id="37" name="Text 17"/>
          <p:cNvSpPr/>
          <p:nvPr/>
        </p:nvSpPr>
        <p:spPr>
          <a:xfrm>
            <a:off x="6306294" y="1843980"/>
            <a:ext cx="23379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Advantages</a:t>
            </a:r>
            <a:endParaRPr lang="en-US" sz="1400" dirty="0"/>
          </a:p>
        </p:txBody>
      </p:sp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81700" y="1866900"/>
            <a:ext cx="247650" cy="219075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6239619" y="2244030"/>
            <a:ext cx="29293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PDF text extraction (client-side)</a:t>
            </a:r>
            <a:endParaRPr lang="en-US" sz="1100" dirty="0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1700" y="2266950"/>
            <a:ext cx="161925" cy="161925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6239619" y="2571601"/>
            <a:ext cx="21167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JSON AI responses</a:t>
            </a:r>
            <a:endParaRPr lang="en-US" sz="1100" dirty="0"/>
          </a:p>
        </p:txBody>
      </p:sp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1700" y="2590800"/>
            <a:ext cx="161925" cy="161925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6239619" y="2899172"/>
            <a:ext cx="20560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Color-coded urgency badges</a:t>
            </a:r>
            <a:endParaRPr lang="en-US" sz="1100" dirty="0"/>
          </a:p>
        </p:txBody>
      </p:sp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81700" y="2924175"/>
            <a:ext cx="161925" cy="161925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6239619" y="3226743"/>
            <a:ext cx="19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 to PDF functionality</a:t>
            </a:r>
            <a:endParaRPr lang="en-US" sz="1100" dirty="0"/>
          </a:p>
        </p:txBody>
      </p:sp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1700" y="3248025"/>
            <a:ext cx="161925" cy="161925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6277719" y="4106763"/>
            <a:ext cx="397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Proof of Execution (Challenges Overcome)</a:t>
            </a:r>
            <a:endParaRPr lang="en-US" sz="1400" dirty="0"/>
          </a:p>
        </p:txBody>
      </p:sp>
      <p:pic>
        <p:nvPicPr>
          <p:cNvPr id="48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81700" y="4124325"/>
            <a:ext cx="219075" cy="219075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6220569" y="4506813"/>
            <a:ext cx="34510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cold start optimization with UptimeRobot</a:t>
            </a:r>
            <a:endParaRPr lang="en-US" sz="1100" dirty="0"/>
          </a:p>
        </p:txBody>
      </p:sp>
      <p:pic>
        <p:nvPicPr>
          <p:cNvPr id="50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81700" y="4533900"/>
            <a:ext cx="142875" cy="161925"/>
          </a:xfrm>
          <a:prstGeom prst="rect">
            <a:avLst/>
          </a:prstGeom>
        </p:spPr>
      </p:pic>
      <p:sp>
        <p:nvSpPr>
          <p:cNvPr id="51" name="Text 24"/>
          <p:cNvSpPr/>
          <p:nvPr/>
        </p:nvSpPr>
        <p:spPr>
          <a:xfrm>
            <a:off x="6220569" y="4834384"/>
            <a:ext cx="3130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 configuration for production domains</a:t>
            </a:r>
            <a:endParaRPr lang="en-US" sz="1100" dirty="0"/>
          </a:p>
        </p:txBody>
      </p:sp>
      <p:pic>
        <p:nvPicPr>
          <p:cNvPr id="52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1700" y="4857750"/>
            <a:ext cx="142875" cy="161925"/>
          </a:xfrm>
          <a:prstGeom prst="rect">
            <a:avLst/>
          </a:prstGeom>
        </p:spPr>
      </p:pic>
      <p:sp>
        <p:nvSpPr>
          <p:cNvPr id="53" name="Text 25"/>
          <p:cNvSpPr/>
          <p:nvPr/>
        </p:nvSpPr>
        <p:spPr>
          <a:xfrm>
            <a:off x="6220569" y="5161955"/>
            <a:ext cx="285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 routing fixes for Netlify deployment</a:t>
            </a:r>
            <a:endParaRPr lang="en-US" sz="1100" dirty="0"/>
          </a:p>
        </p:txBody>
      </p:sp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1700" y="5181600"/>
            <a:ext cx="142875" cy="161925"/>
          </a:xfrm>
          <a:prstGeom prst="rect">
            <a:avLst/>
          </a:prstGeom>
        </p:spPr>
      </p:pic>
      <p:sp>
        <p:nvSpPr>
          <p:cNvPr id="55" name="Text 26"/>
          <p:cNvSpPr/>
          <p:nvPr/>
        </p:nvSpPr>
        <p:spPr>
          <a:xfrm>
            <a:off x="6220569" y="5489525"/>
            <a:ext cx="24507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font extraction error handling</a:t>
            </a:r>
            <a:endParaRPr lang="en-US" sz="1100" dirty="0"/>
          </a:p>
        </p:txBody>
      </p:sp>
      <p:pic>
        <p:nvPicPr>
          <p:cNvPr id="56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81700" y="5514975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000250"/>
            <a:ext cx="6124575" cy="14763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" y="3162300"/>
            <a:ext cx="6448425" cy="17240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533900"/>
            <a:ext cx="6124575" cy="14763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2143125"/>
            <a:ext cx="4876800" cy="434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2857500"/>
            <a:ext cx="4400550" cy="638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50" y="2971800"/>
            <a:ext cx="409575" cy="409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3657600"/>
            <a:ext cx="4400550" cy="6381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50" y="3771900"/>
            <a:ext cx="409575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4457700"/>
            <a:ext cx="4400550" cy="6381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50" y="4572000"/>
            <a:ext cx="409575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371475"/>
            <a:ext cx="1628775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00100" y="457200"/>
            <a:ext cx="11482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Monetization</a:t>
            </a:r>
            <a:endParaRPr lang="en-US" sz="900" dirty="0"/>
          </a:p>
        </p:txBody>
      </p:sp>
      <p:sp>
        <p:nvSpPr>
          <p:cNvPr id="15" name="Text 1"/>
          <p:cNvSpPr/>
          <p:nvPr/>
        </p:nvSpPr>
        <p:spPr>
          <a:xfrm>
            <a:off x="571500" y="819150"/>
            <a:ext cx="623560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Model &amp; Monetization</a:t>
            </a:r>
            <a:endParaRPr lang="en-US" sz="3400" dirty="0"/>
          </a:p>
        </p:txBody>
      </p:sp>
      <p:sp>
        <p:nvSpPr>
          <p:cNvPr id="16" name="Text 2"/>
          <p:cNvSpPr/>
          <p:nvPr/>
        </p:nvSpPr>
        <p:spPr>
          <a:xfrm>
            <a:off x="11217176" y="476250"/>
            <a:ext cx="403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4325" y="1543050"/>
            <a:ext cx="742950" cy="342900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4332089" y="1615380"/>
            <a:ext cx="3296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</a:t>
            </a:r>
            <a:endParaRPr lang="en-US" sz="9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5029200" y="1628775"/>
            <a:ext cx="123825" cy="180975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950" y="1543050"/>
            <a:ext cx="1076325" cy="342900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5518993" y="1615380"/>
            <a:ext cx="669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PREMIUM</a:t>
            </a:r>
            <a:endParaRPr lang="en-US" sz="900" dirty="0"/>
          </a:p>
        </p:txBody>
      </p:sp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6553200" y="1628775"/>
            <a:ext cx="123825" cy="180975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8950" y="1543050"/>
            <a:ext cx="1228725" cy="34290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7045970" y="1615380"/>
            <a:ext cx="813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847725" y="2301180"/>
            <a:ext cx="437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5977830" y="2310705"/>
            <a:ext cx="1744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</a:t>
            </a:r>
            <a:endParaRPr lang="en-US" sz="11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2609850"/>
            <a:ext cx="1771650" cy="23812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1114425" y="2644080"/>
            <a:ext cx="13672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Basic symptom checker</a:t>
            </a:r>
            <a:endParaRPr lang="en-US" sz="900" dirty="0"/>
          </a:p>
        </p:txBody>
      </p:sp>
      <p:pic>
        <p:nvPicPr>
          <p:cNvPr id="29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2657475"/>
            <a:ext cx="123825" cy="152400"/>
          </a:xfrm>
          <a:prstGeom prst="rect">
            <a:avLst/>
          </a:prstGeom>
        </p:spPr>
      </p:pic>
      <p:pic>
        <p:nvPicPr>
          <p:cNvPr id="30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6525" y="2609850"/>
            <a:ext cx="1743075" cy="238125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2957959" y="2644080"/>
            <a:ext cx="13296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Limited report uploads</a:t>
            </a:r>
            <a:endParaRPr lang="en-US" sz="900" dirty="0"/>
          </a:p>
        </p:txBody>
      </p:sp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0825" y="2657475"/>
            <a:ext cx="133350" cy="152400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2914650"/>
            <a:ext cx="1714500" cy="238125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1114425" y="2948880"/>
            <a:ext cx="1308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AI responses</a:t>
            </a:r>
            <a:endParaRPr lang="en-US" sz="900" dirty="0"/>
          </a:p>
        </p:txBody>
      </p:sp>
      <p:pic>
        <p:nvPicPr>
          <p:cNvPr id="35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2962275"/>
            <a:ext cx="123825" cy="152400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795061" y="3559623"/>
            <a:ext cx="921303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PREMIUM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5220774" y="3569339"/>
            <a:ext cx="984909" cy="21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$9.99/month</a:t>
            </a:r>
            <a:endParaRPr lang="en-US" sz="1100" dirty="0"/>
          </a:p>
        </p:txBody>
      </p:sp>
      <p:pic>
        <p:nvPicPr>
          <p:cNvPr id="38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3876675"/>
            <a:ext cx="1466850" cy="238125"/>
          </a:xfrm>
          <a:prstGeom prst="rect">
            <a:avLst/>
          </a:prstGeom>
        </p:spPr>
      </p:pic>
      <p:sp>
        <p:nvSpPr>
          <p:cNvPr id="39" name="Text 13"/>
          <p:cNvSpPr/>
          <p:nvPr/>
        </p:nvSpPr>
        <p:spPr>
          <a:xfrm>
            <a:off x="1067095" y="3909382"/>
            <a:ext cx="1046845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Unlimited reports</a:t>
            </a:r>
            <a:endParaRPr lang="en-US" sz="900" dirty="0"/>
          </a:p>
        </p:txBody>
      </p:sp>
      <p:pic>
        <p:nvPicPr>
          <p:cNvPr id="40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5350" y="3914775"/>
            <a:ext cx="133350" cy="161925"/>
          </a:xfrm>
          <a:prstGeom prst="rect">
            <a:avLst/>
          </a:prstGeom>
        </p:spPr>
      </p:pic>
      <p:pic>
        <p:nvPicPr>
          <p:cNvPr id="41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14575" y="3876675"/>
            <a:ext cx="1819275" cy="238125"/>
          </a:xfrm>
          <a:prstGeom prst="rect">
            <a:avLst/>
          </a:prstGeom>
        </p:spPr>
      </p:pic>
      <p:sp>
        <p:nvSpPr>
          <p:cNvPr id="42" name="Text 14"/>
          <p:cNvSpPr/>
          <p:nvPr/>
        </p:nvSpPr>
        <p:spPr>
          <a:xfrm>
            <a:off x="2599715" y="3909382"/>
            <a:ext cx="140161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Detailed health insights</a:t>
            </a:r>
            <a:endParaRPr lang="en-US" sz="900" dirty="0"/>
          </a:p>
        </p:txBody>
      </p:sp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28875" y="3914775"/>
            <a:ext cx="133350" cy="16192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00525" y="3876675"/>
            <a:ext cx="1133475" cy="238125"/>
          </a:xfrm>
          <a:prstGeom prst="rect">
            <a:avLst/>
          </a:prstGeom>
        </p:spPr>
      </p:pic>
      <p:sp>
        <p:nvSpPr>
          <p:cNvPr id="45" name="Text 15"/>
          <p:cNvSpPr/>
          <p:nvPr/>
        </p:nvSpPr>
        <p:spPr>
          <a:xfrm>
            <a:off x="4487102" y="3909382"/>
            <a:ext cx="71500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exports</a:t>
            </a:r>
            <a:endParaRPr lang="en-US" sz="900" dirty="0"/>
          </a:p>
        </p:txBody>
      </p:sp>
      <p:pic>
        <p:nvPicPr>
          <p:cNvPr id="46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14825" y="3914775"/>
            <a:ext cx="133350" cy="161925"/>
          </a:xfrm>
          <a:prstGeom prst="rect">
            <a:avLst/>
          </a:prstGeom>
        </p:spPr>
      </p:pic>
      <p:pic>
        <p:nvPicPr>
          <p:cNvPr id="47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1050" y="4191000"/>
            <a:ext cx="1323975" cy="238125"/>
          </a:xfrm>
          <a:prstGeom prst="rect">
            <a:avLst/>
          </a:prstGeom>
        </p:spPr>
      </p:pic>
      <p:sp>
        <p:nvSpPr>
          <p:cNvPr id="48" name="Text 16"/>
          <p:cNvSpPr/>
          <p:nvPr/>
        </p:nvSpPr>
        <p:spPr>
          <a:xfrm>
            <a:off x="1067095" y="4220278"/>
            <a:ext cx="90672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 timeline</a:t>
            </a:r>
            <a:endParaRPr lang="en-US" sz="900" dirty="0"/>
          </a:p>
        </p:txBody>
      </p:sp>
      <p:pic>
        <p:nvPicPr>
          <p:cNvPr id="49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5350" y="4229100"/>
            <a:ext cx="133350" cy="152400"/>
          </a:xfrm>
          <a:prstGeom prst="rect">
            <a:avLst/>
          </a:prstGeom>
        </p:spPr>
      </p:pic>
      <p:sp>
        <p:nvSpPr>
          <p:cNvPr id="50" name="Text 17"/>
          <p:cNvSpPr/>
          <p:nvPr/>
        </p:nvSpPr>
        <p:spPr>
          <a:xfrm>
            <a:off x="847725" y="4834830"/>
            <a:ext cx="1117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5569148" y="4844355"/>
            <a:ext cx="5831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</a:t>
            </a:r>
            <a:endParaRPr lang="en-US" sz="1100" dirty="0"/>
          </a:p>
        </p:txBody>
      </p:sp>
      <p:pic>
        <p:nvPicPr>
          <p:cNvPr id="52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" y="5143500"/>
            <a:ext cx="1009650" cy="238125"/>
          </a:xfrm>
          <a:prstGeom prst="rect">
            <a:avLst/>
          </a:prstGeom>
        </p:spPr>
      </p:pic>
      <p:sp>
        <p:nvSpPr>
          <p:cNvPr id="53" name="Text 19"/>
          <p:cNvSpPr/>
          <p:nvPr/>
        </p:nvSpPr>
        <p:spPr>
          <a:xfrm>
            <a:off x="1114425" y="5177730"/>
            <a:ext cx="6051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access</a:t>
            </a:r>
            <a:endParaRPr lang="en-US" sz="900" dirty="0"/>
          </a:p>
        </p:txBody>
      </p:sp>
      <p:pic>
        <p:nvPicPr>
          <p:cNvPr id="54" name="Image 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5191125"/>
            <a:ext cx="123825" cy="152400"/>
          </a:xfrm>
          <a:prstGeom prst="rect">
            <a:avLst/>
          </a:prstGeom>
        </p:spPr>
      </p:pic>
      <p:pic>
        <p:nvPicPr>
          <p:cNvPr id="5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14525" y="5143500"/>
            <a:ext cx="1628775" cy="238125"/>
          </a:xfrm>
          <a:prstGeom prst="rect">
            <a:avLst/>
          </a:prstGeom>
        </p:spPr>
      </p:pic>
      <p:sp>
        <p:nvSpPr>
          <p:cNvPr id="56" name="Text 20"/>
          <p:cNvSpPr/>
          <p:nvPr/>
        </p:nvSpPr>
        <p:spPr>
          <a:xfrm>
            <a:off x="2195810" y="5177730"/>
            <a:ext cx="12197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White-label solutions</a:t>
            </a:r>
            <a:endParaRPr lang="en-US" sz="900" dirty="0"/>
          </a:p>
        </p:txBody>
      </p:sp>
      <p:pic>
        <p:nvPicPr>
          <p:cNvPr id="57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28825" y="5191125"/>
            <a:ext cx="133350" cy="152400"/>
          </a:xfrm>
          <a:prstGeom prst="rect">
            <a:avLst/>
          </a:prstGeom>
        </p:spPr>
      </p:pic>
      <p:pic>
        <p:nvPicPr>
          <p:cNvPr id="58" name="Image 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09975" y="5143500"/>
            <a:ext cx="1628775" cy="238125"/>
          </a:xfrm>
          <a:prstGeom prst="rect">
            <a:avLst/>
          </a:prstGeom>
        </p:spPr>
      </p:pic>
      <p:sp>
        <p:nvSpPr>
          <p:cNvPr id="59" name="Text 21"/>
          <p:cNvSpPr/>
          <p:nvPr/>
        </p:nvSpPr>
        <p:spPr>
          <a:xfrm>
            <a:off x="3891855" y="5177730"/>
            <a:ext cx="12171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Hospital integrations</a:t>
            </a:r>
            <a:endParaRPr lang="en-US" sz="900" dirty="0"/>
          </a:p>
        </p:txBody>
      </p:sp>
      <p:pic>
        <p:nvPicPr>
          <p:cNvPr id="60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4275" y="5191125"/>
            <a:ext cx="133350" cy="152400"/>
          </a:xfrm>
          <a:prstGeom prst="rect">
            <a:avLst/>
          </a:prstGeom>
        </p:spPr>
      </p:pic>
      <p:pic>
        <p:nvPicPr>
          <p:cNvPr id="61" name="Image 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200" y="5448300"/>
            <a:ext cx="1485900" cy="238125"/>
          </a:xfrm>
          <a:prstGeom prst="rect">
            <a:avLst/>
          </a:prstGeom>
        </p:spPr>
      </p:pic>
      <p:sp>
        <p:nvSpPr>
          <p:cNvPr id="62" name="Text 22"/>
          <p:cNvSpPr/>
          <p:nvPr/>
        </p:nvSpPr>
        <p:spPr>
          <a:xfrm>
            <a:off x="1114425" y="5482530"/>
            <a:ext cx="10791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Dedicated support</a:t>
            </a:r>
            <a:endParaRPr lang="en-US" sz="900" dirty="0"/>
          </a:p>
        </p:txBody>
      </p:sp>
      <p:pic>
        <p:nvPicPr>
          <p:cNvPr id="63" name="Image 3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5495925"/>
            <a:ext cx="123825" cy="152400"/>
          </a:xfrm>
          <a:prstGeom prst="rect">
            <a:avLst/>
          </a:prstGeom>
        </p:spPr>
      </p:pic>
      <p:sp>
        <p:nvSpPr>
          <p:cNvPr id="64" name="Text 23"/>
          <p:cNvSpPr/>
          <p:nvPr/>
        </p:nvSpPr>
        <p:spPr>
          <a:xfrm>
            <a:off x="7333357" y="2396430"/>
            <a:ext cx="29534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Additional Revenue Streams</a:t>
            </a:r>
            <a:endParaRPr lang="en-US" sz="1500" dirty="0"/>
          </a:p>
        </p:txBody>
      </p:sp>
      <p:pic>
        <p:nvPicPr>
          <p:cNvPr id="65" name="Image 3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91350" y="2419350"/>
            <a:ext cx="238125" cy="238125"/>
          </a:xfrm>
          <a:prstGeom prst="rect">
            <a:avLst/>
          </a:prstGeom>
        </p:spPr>
      </p:pic>
      <p:pic>
        <p:nvPicPr>
          <p:cNvPr id="66" name="Image 4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91375" y="3076575"/>
            <a:ext cx="247650" cy="200025"/>
          </a:xfrm>
          <a:prstGeom prst="rect">
            <a:avLst/>
          </a:prstGeom>
        </p:spPr>
      </p:pic>
      <p:sp>
        <p:nvSpPr>
          <p:cNvPr id="67" name="Text 24"/>
          <p:cNvSpPr/>
          <p:nvPr/>
        </p:nvSpPr>
        <p:spPr>
          <a:xfrm>
            <a:off x="7647682" y="3072705"/>
            <a:ext cx="29036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integrations with diagnostic labs</a:t>
            </a:r>
            <a:endParaRPr lang="en-US" sz="1100" dirty="0"/>
          </a:p>
        </p:txBody>
      </p:sp>
      <p:pic>
        <p:nvPicPr>
          <p:cNvPr id="68" name="Image 4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19950" y="3876675"/>
            <a:ext cx="180975" cy="200025"/>
          </a:xfrm>
          <a:prstGeom prst="rect">
            <a:avLst/>
          </a:prstGeom>
        </p:spPr>
      </p:pic>
      <p:sp>
        <p:nvSpPr>
          <p:cNvPr id="69" name="Text 25"/>
          <p:cNvSpPr/>
          <p:nvPr/>
        </p:nvSpPr>
        <p:spPr>
          <a:xfrm>
            <a:off x="7647682" y="3872805"/>
            <a:ext cx="27360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Premium health content subscriptions</a:t>
            </a:r>
            <a:endParaRPr lang="en-US" sz="1100" dirty="0"/>
          </a:p>
        </p:txBody>
      </p:sp>
      <p:pic>
        <p:nvPicPr>
          <p:cNvPr id="70" name="Image 4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19950" y="4676775"/>
            <a:ext cx="180975" cy="200025"/>
          </a:xfrm>
          <a:prstGeom prst="rect">
            <a:avLst/>
          </a:prstGeom>
        </p:spPr>
      </p:pic>
      <p:sp>
        <p:nvSpPr>
          <p:cNvPr id="71" name="Text 26"/>
          <p:cNvSpPr/>
          <p:nvPr/>
        </p:nvSpPr>
        <p:spPr>
          <a:xfrm>
            <a:off x="7647682" y="4672905"/>
            <a:ext cx="2484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Telemedicine referral commissions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657350"/>
            <a:ext cx="4705350" cy="666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7350"/>
            <a:ext cx="4324350" cy="666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457450"/>
            <a:ext cx="11068050" cy="1466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371475"/>
            <a:ext cx="1609725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438150"/>
            <a:ext cx="1208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Status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11180415" y="442913"/>
            <a:ext cx="440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sp>
        <p:nvSpPr>
          <p:cNvPr id="9" name="Text 2"/>
          <p:cNvSpPr/>
          <p:nvPr/>
        </p:nvSpPr>
        <p:spPr>
          <a:xfrm>
            <a:off x="571500" y="952500"/>
            <a:ext cx="1104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Status &amp; Traction</a:t>
            </a:r>
            <a:endParaRPr lang="en-US" sz="3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876425"/>
            <a:ext cx="190500" cy="1905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57275" y="1866900"/>
            <a:ext cx="38024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Fully functional web app live at opsisai.netlify.app</a:t>
            </a:r>
            <a:endParaRPr lang="en-US" sz="11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8775" y="1876425"/>
            <a:ext cx="247650" cy="1905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783610" y="1866900"/>
            <a:ext cx="3376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deployed on Render cloud platform</a:t>
            </a:r>
            <a:endParaRPr lang="en-US" sz="11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733675"/>
            <a:ext cx="152400" cy="17145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085850" y="2705100"/>
            <a:ext cx="3969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Symptom Checker with urgency categorization</a:t>
            </a:r>
            <a:endParaRPr lang="en-US" sz="1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6975" y="2733675"/>
            <a:ext cx="152400" cy="17145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562725" y="2705100"/>
            <a:ext cx="3936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Medical Report Analyzer with biomarker flagging</a:t>
            </a:r>
            <a:endParaRPr lang="en-US" sz="12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105150"/>
            <a:ext cx="152400" cy="17145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85850" y="3076575"/>
            <a:ext cx="285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 Health Score Dashboard</a:t>
            </a:r>
            <a:endParaRPr lang="en-US" sz="12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6975" y="3105150"/>
            <a:ext cx="152400" cy="17145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6562725" y="3076575"/>
            <a:ext cx="1937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Export functionality</a:t>
            </a:r>
            <a:endParaRPr lang="en-US" sz="12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476625"/>
            <a:ext cx="152400" cy="17145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1085850" y="3448050"/>
            <a:ext cx="2715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Secure user session management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571500" y="4665464"/>
            <a:ext cx="11049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6-Month Roadmap</a:t>
            </a:r>
            <a:endParaRPr lang="en-US" sz="14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" y="4791075"/>
            <a:ext cx="10306050" cy="47625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5450" y="5000625"/>
            <a:ext cx="609600" cy="619125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2475" y="5143500"/>
            <a:ext cx="333375" cy="333375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5143500"/>
            <a:ext cx="333375" cy="33337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9825" y="5143500"/>
            <a:ext cx="323850" cy="333375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1882973" y="5608439"/>
            <a:ext cx="234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57250" y="5913239"/>
            <a:ext cx="2286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authentication &amp; health history timeline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4613523" y="5608439"/>
            <a:ext cx="234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3600152" y="5913239"/>
            <a:ext cx="22611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Multilingual support (Bengali, Hindi)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7343924" y="5608439"/>
            <a:ext cx="234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318200" y="5913239"/>
            <a:ext cx="2286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Doctor integration for remote consultations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10074473" y="5608439"/>
            <a:ext cx="234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9411295" y="5913239"/>
            <a:ext cx="15609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app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29750" y="476250"/>
            <a:ext cx="425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819573" y="1861245"/>
            <a:ext cx="85527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4B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world where everyone can understand and act on their health data with confidence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36568" y="6010275"/>
            <a:ext cx="918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 AI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571006" y="6324600"/>
            <a:ext cx="1603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Website: opsisai.netlify.app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365129" y="6324600"/>
            <a:ext cx="23845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Institution: Haldia Institute of Technology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40153" y="6324600"/>
            <a:ext cx="2680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Department: Information Technology (B.Tech)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0777" y="870645"/>
            <a:ext cx="1023044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2D6A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Us in Revolutionizing Healthcare</a:t>
            </a:r>
            <a:endParaRPr lang="en-US" sz="4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25" y="2943225"/>
            <a:ext cx="971550" cy="100965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925" y="3209925"/>
            <a:ext cx="438150" cy="43815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" y="3524250"/>
            <a:ext cx="3257550" cy="161925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225" y="3524250"/>
            <a:ext cx="3257550" cy="161925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725" y="3524250"/>
            <a:ext cx="3257550" cy="16192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449860" y="3937695"/>
            <a:ext cx="8151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Try Now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2332434" y="4261545"/>
            <a:ext cx="1050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opsisai.netlify.app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5728990" y="3937695"/>
            <a:ext cx="7338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4876800" y="4261545"/>
            <a:ext cx="2438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Collaborate with us for healthcare integrations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8863161" y="3937695"/>
            <a:ext cx="9426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Let's Talk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178105" y="4261545"/>
            <a:ext cx="2312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 us for investment opportunities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500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Sayantan Mondal</cp:lastModifiedBy>
  <cp:revision>2</cp:revision>
  <dcterms:created xsi:type="dcterms:W3CDTF">2026-05-07T03:43:41Z</dcterms:created>
  <dcterms:modified xsi:type="dcterms:W3CDTF">2026-05-07T03:45:15Z</dcterms:modified>
</cp:coreProperties>
</file>